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4630400" cy="8229600"/>
  <p:notesSz cx="8229600" cy="14630400"/>
  <p:embeddedFontLst>
    <p:embeddedFont>
      <p:font typeface="DM Sans Semi Bold"/>
      <p:regular r:id="rId15"/>
    </p:embeddedFont>
    <p:embeddedFont>
      <p:font typeface="DM Sans Semi Bold"/>
      <p:regular r:id="rId16"/>
    </p:embeddedFont>
    <p:embeddedFont>
      <p:font typeface="DM Sans Semi Bold"/>
      <p:regular r:id="rId17"/>
    </p:embeddedFont>
    <p:embeddedFont>
      <p:font typeface="DM Sans Semi Bold"/>
      <p:regular r:id="rId18"/>
    </p:embeddedFont>
    <p:embeddedFont>
      <p:font typeface="Inter Medium"/>
      <p:regular r:id="rId19"/>
    </p:embeddedFont>
    <p:embeddedFont>
      <p:font typeface="Inter Medium"/>
      <p:regular r:id="rId20"/>
    </p:embeddedFont>
    <p:embeddedFont>
      <p:font typeface="Inter Medium"/>
      <p:regular r:id="rId21"/>
    </p:embeddedFont>
    <p:embeddedFont>
      <p:font typeface="Inter Medium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font" Target="fonts/font1.fntdata"/><Relationship Id="rId16" Type="http://schemas.openxmlformats.org/officeDocument/2006/relationships/font" Target="fonts/font2.fntdata"/><Relationship Id="rId17" Type="http://schemas.openxmlformats.org/officeDocument/2006/relationships/font" Target="fonts/font3.fntdata"/><Relationship Id="rId18" Type="http://schemas.openxmlformats.org/officeDocument/2006/relationships/font" Target="fonts/font4.fntdata"/><Relationship Id="rId19" Type="http://schemas.openxmlformats.org/officeDocument/2006/relationships/font" Target="fonts/font5.fntdata"/><Relationship Id="rId20" Type="http://schemas.openxmlformats.org/officeDocument/2006/relationships/font" Target="fonts/font6.fntdata"/><Relationship Id="rId21" Type="http://schemas.openxmlformats.org/officeDocument/2006/relationships/font" Target="fonts/font7.fntdata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4.png"/><Relationship Id="rId5" Type="http://schemas.openxmlformats.org/officeDocument/2006/relationships/image" Target="../media/image-5-5.svg"/><Relationship Id="rId6" Type="http://schemas.openxmlformats.org/officeDocument/2006/relationships/image" Target="../media/image-5-6.png"/><Relationship Id="rId7" Type="http://schemas.openxmlformats.org/officeDocument/2006/relationships/image" Target="../media/image-5-7.sv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6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7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9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62445"/>
            <a:ext cx="632126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Mobile Price Prediction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511385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Unlocking Value with Machine Learning</a:t>
            </a:r>
            <a:endParaRPr lang="en-US" sz="6150" dirty="0"/>
          </a:p>
        </p:txBody>
      </p:sp>
      <p:sp>
        <p:nvSpPr>
          <p:cNvPr id="5" name="Text 2"/>
          <p:cNvSpPr/>
          <p:nvPr/>
        </p:nvSpPr>
        <p:spPr>
          <a:xfrm>
            <a:off x="6280190" y="578619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Presented by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Rajvir Kaur &amp; Navneet Kaur 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·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640425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Registration No.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72512125 &amp; 72513252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72354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The Challenge: Navigating the Smartphone Jungle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6280190" y="2481262"/>
            <a:ext cx="3664744" cy="3120509"/>
          </a:xfrm>
          <a:prstGeom prst="roundRect">
            <a:avLst>
              <a:gd name="adj" fmla="val 1090"/>
            </a:avLst>
          </a:prstGeom>
          <a:solidFill>
            <a:srgbClr val="F2EEEE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708077"/>
            <a:ext cx="3211116" cy="716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😵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Overwhelmed by Choice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07004" y="3560445"/>
            <a:ext cx="3211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Thousands of models flood the market every year. Finding the right phone is confusing and time-consuming.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10171748" y="2481262"/>
            <a:ext cx="3664863" cy="3120509"/>
          </a:xfrm>
          <a:prstGeom prst="roundRect">
            <a:avLst>
              <a:gd name="adj" fmla="val 1090"/>
            </a:avLst>
          </a:prstGeom>
          <a:solidFill>
            <a:srgbClr val="F2EEEE"/>
          </a:solidFill>
          <a:ln/>
        </p:spPr>
      </p:sp>
      <p:sp>
        <p:nvSpPr>
          <p:cNvPr id="8" name="Text 5"/>
          <p:cNvSpPr/>
          <p:nvPr/>
        </p:nvSpPr>
        <p:spPr>
          <a:xfrm>
            <a:off x="10398562" y="2708077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⚖️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Feature vs. Price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398562" y="3206115"/>
            <a:ext cx="3211235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How do RAM, camera quality, and battery life actually influence cost? The relationship isn't always obvious.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6280190" y="5828586"/>
            <a:ext cx="7556421" cy="1677472"/>
          </a:xfrm>
          <a:prstGeom prst="roundRect">
            <a:avLst>
              <a:gd name="adj" fmla="val 2028"/>
            </a:avLst>
          </a:prstGeom>
          <a:solidFill>
            <a:srgbClr val="F2EEEE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6055400"/>
            <a:ext cx="316253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📊</a:t>
            </a:r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 The Need for Insight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07004" y="6553438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Both consumers and manufacturers need data-driven tools to understand and predict fair market value.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758" y="625793"/>
            <a:ext cx="12787551" cy="653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100"/>
              </a:lnSpc>
              <a:buNone/>
            </a:pPr>
            <a:r>
              <a:rPr lang="en-US" sz="4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Our Solution: Machine Learning for Price Prediction</a:t>
            </a:r>
            <a:endParaRPr lang="en-US" sz="4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758" y="2211705"/>
            <a:ext cx="8379857" cy="474857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29299" y="1761053"/>
            <a:ext cx="2613779" cy="326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What Data We Use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9629299" y="2280404"/>
            <a:ext cx="4276844" cy="642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Our model analyzes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1,000+ smartphones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using these key features: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9629299" y="3096578"/>
            <a:ext cx="4276844" cy="2265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RAM &amp; Internal Storage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Processor Speed &amp; Core Count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Front &amp; Rear Camera Resolution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Screen Size &amp; Display Quality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Battery Power &amp; Talk Time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Connectivity: 4G, 3G, Bluetooth, Wi-Fi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629299" y="5578435"/>
            <a:ext cx="4276844" cy="1808440"/>
          </a:xfrm>
          <a:prstGeom prst="roundRect">
            <a:avLst>
              <a:gd name="adj" fmla="val 1734"/>
            </a:avLst>
          </a:prstGeom>
          <a:solidFill>
            <a:srgbClr val="BEF3E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8373" y="5892998"/>
            <a:ext cx="261342" cy="20907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308788" y="5823466"/>
            <a:ext cx="3388281" cy="1285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We use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XGBoost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and </a:t>
            </a:r>
            <a:pPr algn="l" indent="0" marL="0">
              <a:lnSpc>
                <a:spcPts val="25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Random Forest</a:t>
            </a:r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regression algorithms to detect pricing patterns from real-world data.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21688"/>
            <a:ext cx="1078396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Visualizing the Data: What Drives Price?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425779"/>
            <a:ext cx="571738" cy="164544"/>
          </a:xfrm>
          <a:prstGeom prst="roundRect">
            <a:avLst>
              <a:gd name="adj" fmla="val 77800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130" y="2462332"/>
            <a:ext cx="91440" cy="91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9050" y="2448639"/>
            <a:ext cx="343138" cy="1188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Price ($)</a:t>
            </a:r>
            <a:endParaRPr lang="en-US" sz="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666524"/>
            <a:ext cx="6244709" cy="34574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3790" y="617791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Observation: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Higher RAM consistently correlates with higher prices — a strong linear signal for our model.</a:t>
            </a:r>
            <a:endParaRPr lang="en-US" sz="17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425779"/>
            <a:ext cx="6244709" cy="36934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599521" y="6177915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Key Insight: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RAM, processor speed, and camera megapixels are the top three price predictors.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726281"/>
            <a:ext cx="40077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Building the Prediction Model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2449" y="1193959"/>
            <a:ext cx="7825502" cy="35213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97299" y="1213240"/>
            <a:ext cx="1369431" cy="423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Data Preprocessing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897299" y="1696679"/>
            <a:ext cx="1369431" cy="380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Clean and format raw smartphone data</a:t>
            </a:r>
            <a:endParaRPr lang="en-US" sz="10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4114" y="2299567"/>
            <a:ext cx="303325" cy="3033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27898" y="3960095"/>
            <a:ext cx="1376955" cy="211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Model Training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627898" y="4231912"/>
            <a:ext cx="1376955" cy="380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XGBoost and Random Forest learn patterns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4713" y="3405645"/>
            <a:ext cx="303325" cy="3033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05827" y="1186905"/>
            <a:ext cx="1369430" cy="423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3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Prediction Output</a:t>
            </a:r>
            <a:endParaRPr lang="en-US" sz="1300" dirty="0"/>
          </a:p>
        </p:txBody>
      </p:sp>
      <p:sp>
        <p:nvSpPr>
          <p:cNvPr id="11" name="Text 6"/>
          <p:cNvSpPr/>
          <p:nvPr/>
        </p:nvSpPr>
        <p:spPr>
          <a:xfrm>
            <a:off x="8305827" y="1670344"/>
            <a:ext cx="1369430" cy="380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50"/>
              </a:lnSpc>
              <a:buNone/>
            </a:pPr>
            <a:r>
              <a:rPr lang="en-US" sz="10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Instant price estimate with 95% accuracy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65215" y="2269469"/>
            <a:ext cx="303325" cy="30332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402449" y="4779050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model goes through a clean three-stage pipeline — from raw data to a trained algorithm to an instant, accurate price prediction.</a:t>
            </a:r>
            <a:endParaRPr lang="en-US" sz="850" dirty="0"/>
          </a:p>
        </p:txBody>
      </p:sp>
      <p:sp>
        <p:nvSpPr>
          <p:cNvPr id="14" name="Text 8"/>
          <p:cNvSpPr/>
          <p:nvPr/>
        </p:nvSpPr>
        <p:spPr>
          <a:xfrm>
            <a:off x="3402449" y="5000149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Model Performance</a:t>
            </a:r>
            <a:endParaRPr lang="en-US" sz="11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02449" y="5326023"/>
            <a:ext cx="3774400" cy="2250519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2449" y="5326023"/>
            <a:ext cx="3774400" cy="2204799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461171" y="5313283"/>
            <a:ext cx="3774400" cy="408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XGBoost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achieved the highest accuracy at 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~95%</a:t>
            </a:r>
            <a:pPr algn="l" indent="0" marL="0">
              <a:lnSpc>
                <a:spcPts val="1050"/>
              </a:lnSpc>
              <a:buNone/>
            </a:pPr>
            <a:r>
              <a:rPr lang="en-US" sz="8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making it our best-performing model. Predicted prices closely match actual market values.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5425" y="652105"/>
            <a:ext cx="7605951" cy="137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400"/>
              </a:lnSpc>
              <a:buNone/>
            </a:pPr>
            <a:r>
              <a:rPr lang="en-US" sz="43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How It Works: A User's Perspective</a:t>
            </a:r>
            <a:endParaRPr lang="en-US" sz="4300" dirty="0"/>
          </a:p>
        </p:txBody>
      </p:sp>
      <p:sp>
        <p:nvSpPr>
          <p:cNvPr id="4" name="Shape 1"/>
          <p:cNvSpPr/>
          <p:nvPr/>
        </p:nvSpPr>
        <p:spPr>
          <a:xfrm>
            <a:off x="6255425" y="2344579"/>
            <a:ext cx="878919" cy="1602462"/>
          </a:xfrm>
          <a:prstGeom prst="roundRect">
            <a:avLst>
              <a:gd name="adj" fmla="val 360017"/>
            </a:avLst>
          </a:prstGeom>
          <a:solidFill>
            <a:srgbClr val="F2EEEE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30102" y="2980968"/>
            <a:ext cx="329565" cy="32956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47109" y="2564249"/>
            <a:ext cx="2746653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Input Your Specs</a:t>
            </a:r>
            <a:endParaRPr lang="en-US" sz="2150" dirty="0"/>
          </a:p>
        </p:txBody>
      </p:sp>
      <p:sp>
        <p:nvSpPr>
          <p:cNvPr id="7" name="Text 3"/>
          <p:cNvSpPr/>
          <p:nvPr/>
        </p:nvSpPr>
        <p:spPr>
          <a:xfrm>
            <a:off x="7347109" y="3035141"/>
            <a:ext cx="6514267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Users enter desired features — RAM, camera, battery, and more — into a simple web interface.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6255425" y="4159806"/>
            <a:ext cx="878919" cy="1602462"/>
          </a:xfrm>
          <a:prstGeom prst="roundRect">
            <a:avLst>
              <a:gd name="adj" fmla="val 360017"/>
            </a:avLst>
          </a:prstGeom>
          <a:solidFill>
            <a:srgbClr val="F2EEEE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0102" y="4796195"/>
            <a:ext cx="329565" cy="32956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347109" y="4379476"/>
            <a:ext cx="2776418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Real-Time Prediction</a:t>
            </a:r>
            <a:endParaRPr lang="en-US" sz="2150" dirty="0"/>
          </a:p>
        </p:txBody>
      </p:sp>
      <p:sp>
        <p:nvSpPr>
          <p:cNvPr id="11" name="Text 6"/>
          <p:cNvSpPr/>
          <p:nvPr/>
        </p:nvSpPr>
        <p:spPr>
          <a:xfrm>
            <a:off x="7347109" y="4850368"/>
            <a:ext cx="6514267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trained ML model instantly processes inputs and estimates a fair price range in milliseconds.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6255425" y="5975033"/>
            <a:ext cx="878919" cy="1602462"/>
          </a:xfrm>
          <a:prstGeom prst="roundRect">
            <a:avLst>
              <a:gd name="adj" fmla="val 360017"/>
            </a:avLst>
          </a:prstGeom>
          <a:solidFill>
            <a:srgbClr val="F2EEEE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0102" y="6611422"/>
            <a:ext cx="329565" cy="32956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47109" y="6194703"/>
            <a:ext cx="2781657" cy="3432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Empowered Decision</a:t>
            </a:r>
            <a:endParaRPr lang="en-US" sz="2150" dirty="0"/>
          </a:p>
        </p:txBody>
      </p:sp>
      <p:sp>
        <p:nvSpPr>
          <p:cNvPr id="15" name="Text 9"/>
          <p:cNvSpPr/>
          <p:nvPr/>
        </p:nvSpPr>
        <p:spPr>
          <a:xfrm>
            <a:off x="7347109" y="6665595"/>
            <a:ext cx="6514267" cy="692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Users compare options, stay within budget, and choose a phone that truly matches their needs.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79183" y="554831"/>
            <a:ext cx="5634990" cy="5647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Impact &amp; The Road Ahead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9183" y="1497449"/>
            <a:ext cx="6015395" cy="601539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543205" y="3353753"/>
            <a:ext cx="2259330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Who Benefits?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7543205" y="3780115"/>
            <a:ext cx="6015395" cy="5195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tool creates value for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both sides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of the market — helping buyers make smarter choices and helping brands price competitively.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7543205" y="4443651"/>
            <a:ext cx="2398752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Future Enhancements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7543205" y="4870013"/>
            <a:ext cx="6015395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Integrate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market data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and broader datasets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Explore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deep learning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 more nuanced predictions</a:t>
            </a:r>
            <a:endParaRPr lang="en-US" sz="1400" dirty="0"/>
          </a:p>
          <a:p>
            <a:pPr algn="l"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Predict </a:t>
            </a:r>
            <a:pPr algn="l"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resale value</a:t>
            </a:r>
            <a:pPr algn="l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and device longevity over time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042" y="627936"/>
            <a:ext cx="5404842" cy="67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Thank You</a:t>
            </a:r>
            <a:endParaRPr lang="en-US" sz="4250" dirty="0"/>
          </a:p>
        </p:txBody>
      </p:sp>
      <p:sp>
        <p:nvSpPr>
          <p:cNvPr id="4" name="Text 1"/>
          <p:cNvSpPr/>
          <p:nvPr/>
        </p:nvSpPr>
        <p:spPr>
          <a:xfrm>
            <a:off x="6243042" y="1612702"/>
            <a:ext cx="7630716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Thank you for your attention. I welcome your questions and feedback.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43042" y="2182297"/>
            <a:ext cx="7630716" cy="129230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212562" y="2182297"/>
            <a:ext cx="121920" cy="1292304"/>
          </a:xfrm>
          <a:prstGeom prst="roundRect">
            <a:avLst>
              <a:gd name="adj" fmla="val 26599"/>
            </a:avLst>
          </a:prstGeom>
          <a:solidFill>
            <a:srgbClr val="1C9770"/>
          </a:solidFill>
          <a:ln/>
        </p:spPr>
      </p:sp>
      <p:sp>
        <p:nvSpPr>
          <p:cNvPr id="7" name="Text 4"/>
          <p:cNvSpPr/>
          <p:nvPr/>
        </p:nvSpPr>
        <p:spPr>
          <a:xfrm>
            <a:off x="6581061" y="2428875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Presented By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581061" y="2890242"/>
            <a:ext cx="7046119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Rajvir Kaur &amp; Navneet Kaur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6243042" y="3680579"/>
            <a:ext cx="7630716" cy="129230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212562" y="3680579"/>
            <a:ext cx="121920" cy="1292304"/>
          </a:xfrm>
          <a:prstGeom prst="roundRect">
            <a:avLst>
              <a:gd name="adj" fmla="val 26599"/>
            </a:avLst>
          </a:prstGeom>
          <a:solidFill>
            <a:srgbClr val="1C9770"/>
          </a:solidFill>
          <a:ln/>
        </p:spPr>
      </p:sp>
      <p:sp>
        <p:nvSpPr>
          <p:cNvPr id="11" name="Text 8"/>
          <p:cNvSpPr/>
          <p:nvPr/>
        </p:nvSpPr>
        <p:spPr>
          <a:xfrm>
            <a:off x="6581061" y="3927157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Registration Number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581061" y="4388525"/>
            <a:ext cx="7046119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72512125 &amp; 72513252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3042" y="5178862"/>
            <a:ext cx="7630716" cy="1292304"/>
          </a:xfrm>
          <a:prstGeom prst="roundRect">
            <a:avLst>
              <a:gd name="adj" fmla="val 11321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212562" y="5178862"/>
            <a:ext cx="121920" cy="1292304"/>
          </a:xfrm>
          <a:prstGeom prst="roundRect">
            <a:avLst>
              <a:gd name="adj" fmla="val 26599"/>
            </a:avLst>
          </a:prstGeom>
          <a:solidFill>
            <a:srgbClr val="1C9770"/>
          </a:solidFill>
          <a:ln/>
        </p:spPr>
      </p:sp>
      <p:sp>
        <p:nvSpPr>
          <p:cNvPr id="15" name="Text 12"/>
          <p:cNvSpPr/>
          <p:nvPr/>
        </p:nvSpPr>
        <p:spPr>
          <a:xfrm>
            <a:off x="6581061" y="5425440"/>
            <a:ext cx="2702362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Topic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6581061" y="5886807"/>
            <a:ext cx="7046119" cy="337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Mobile Price Prediction using Machine Learning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6243042" y="6702981"/>
            <a:ext cx="7630716" cy="898684"/>
          </a:xfrm>
          <a:prstGeom prst="roundRect">
            <a:avLst>
              <a:gd name="adj" fmla="val 3609"/>
            </a:avLst>
          </a:prstGeom>
          <a:solidFill>
            <a:srgbClr val="B6FCB8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9141" y="7027664"/>
            <a:ext cx="270153" cy="21609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45392" y="6962894"/>
            <a:ext cx="6712268" cy="345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Questions are welcome! </a:t>
            </a:r>
            <a:pPr algn="l" indent="0" marL="0">
              <a:lnSpc>
                <a:spcPts val="265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🙋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2026-04-27T03:35:28Z</dcterms:created>
  <dcterms:modified xsi:type="dcterms:W3CDTF">2026-04-27T03:35:28Z</dcterms:modified>
</cp:coreProperties>
</file>